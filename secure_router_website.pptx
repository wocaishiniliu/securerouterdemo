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9" r:id="rId2"/>
    <p:sldId id="26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B147B0-2645-48DD-843D-C23EB93B34C0}" v="1" dt="2026-03-13T20:44:01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5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kuan Zhang" userId="15c3cc0e-a1cf-4979-ae47-72a2481435fe" providerId="ADAL" clId="{EF6F4EAA-4FBF-4101-A307-8402DED764E6}"/>
    <pc:docChg chg="addSld modSld">
      <pc:chgData name="Yukuan Zhang" userId="15c3cc0e-a1cf-4979-ae47-72a2481435fe" providerId="ADAL" clId="{EF6F4EAA-4FBF-4101-A307-8402DED764E6}" dt="2026-03-13T20:44:01.378" v="0"/>
      <pc:docMkLst>
        <pc:docMk/>
      </pc:docMkLst>
      <pc:sldChg chg="modSp add">
        <pc:chgData name="Yukuan Zhang" userId="15c3cc0e-a1cf-4979-ae47-72a2481435fe" providerId="ADAL" clId="{EF6F4EAA-4FBF-4101-A307-8402DED764E6}" dt="2026-03-13T20:44:01.378" v="0"/>
        <pc:sldMkLst>
          <pc:docMk/>
          <pc:sldMk cId="0" sldId="259"/>
        </pc:sldMkLst>
        <pc:graphicFrameChg chg="mod">
          <ac:chgData name="Yukuan Zhang" userId="15c3cc0e-a1cf-4979-ae47-72a2481435fe" providerId="ADAL" clId="{EF6F4EAA-4FBF-4101-A307-8402DED764E6}" dt="2026-03-13T20:44:01.378" v="0"/>
          <ac:graphicFrameMkLst>
            <pc:docMk/>
            <pc:sldMk cId="0" sldId="259"/>
            <ac:graphicFrameMk id="4" creationId="{FC0479B1-5DD5-195D-A651-D4C6D1FE0626}"/>
          </ac:graphicFrameMkLst>
        </pc:graphicFrameChg>
      </pc:sldChg>
      <pc:sldChg chg="add">
        <pc:chgData name="Yukuan Zhang" userId="15c3cc0e-a1cf-4979-ae47-72a2481435fe" providerId="ADAL" clId="{EF6F4EAA-4FBF-4101-A307-8402DED764E6}" dt="2026-03-13T20:44:01.378" v="0"/>
        <pc:sldMkLst>
          <pc:docMk/>
          <pc:sldMk cId="2601452166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65B0B-6008-43AC-959D-7A4B010232F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75693-CCB7-424F-80B1-7348C25AB0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82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>
          <a:extLst>
            <a:ext uri="{FF2B5EF4-FFF2-40B4-BE49-F238E27FC236}">
              <a16:creationId xmlns:a16="http://schemas.microsoft.com/office/drawing/2014/main" id="{95859555-D9D0-01C5-28FA-6BBE7AEC4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>
            <a:extLst>
              <a:ext uri="{FF2B5EF4-FFF2-40B4-BE49-F238E27FC236}">
                <a16:creationId xmlns:a16="http://schemas.microsoft.com/office/drawing/2014/main" id="{86ED5300-E260-7BE0-931C-125F735744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>
            <a:extLst>
              <a:ext uri="{FF2B5EF4-FFF2-40B4-BE49-F238E27FC236}">
                <a16:creationId xmlns:a16="http://schemas.microsoft.com/office/drawing/2014/main" id="{C0016FED-47F4-7D9E-05E5-945CE91535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1920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D594-DD99-D9C0-2F8F-5B27709E0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8DE73-5E67-D450-EEEF-39A305747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6DF77-B243-C1FF-33DF-166D15AE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6F81B-6B99-231F-0919-57FC4D62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0DFB-317B-32D2-0A03-A0DCF33D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1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96B60-AB7D-3D21-3A9F-CBCC28D86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69518-9D77-B37A-663E-806D0500A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32C12-3C6C-CB9C-5276-736B8E8C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19D60-20AC-B2CC-EB84-E05B904F2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51CAD-4475-4FFD-1E0C-B7E1832F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03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3C23E-3384-1993-E664-DFACD017F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812F7-D33E-0891-A029-D6B258F1A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FDA3E-76FF-5D80-BA68-D25ABFC8A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E66A7-3BFD-381A-51A1-0B06180E3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C4F88-FC13-D0FA-9A00-3946B6C5F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1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51455-BABB-E382-B881-72E4181B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60313-FA23-E137-8A95-6053F5058C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5760E-B935-5B93-C407-BBD150BD1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E3785-0C1C-EE49-CE98-5A96EB13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746F1-40B1-CB77-AFCA-398EA111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85131-0E54-1B19-B8FD-4A92CFAD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8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9FA7-8122-353E-5728-D30F6140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94D66-5C5D-8E5F-C3BD-9B6AB56BE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87563-7029-5B7E-57CD-859D7D3B8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6EB4EA-E7CB-6B8F-9ACA-011091707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236C6-EFB2-AA31-30D8-DCC6BD83DC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4D1F61-F13A-F31F-14AC-2B3B0AF5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F62C6C-3675-7C39-763C-9CFE0258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F65DB3-7C0B-6F60-F0C6-24DF67C2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2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3801-CB7C-39AA-E2E7-97C6C256E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4D8869-CDB9-1674-7E01-098B20833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560E2-CCC9-EB1C-359E-CFE5DFCD8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BADC5-83D0-2B5B-F774-5D7778E4F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8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2E844E-887F-BD1A-10E0-A156539C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EA5FB-7A5C-783A-0869-1511EBA5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3BD9A-D835-2E4A-083E-2C038E0B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372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286FF-3140-5753-D5DB-B885D4BB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6215-C6CF-8B2D-F47E-7E7F61D39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F899C-46B2-E4AB-20DE-9A3AF4154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A5CEC-91F6-28BA-4553-CC4A84545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2F01B-D4C2-4B56-4FF9-3450E613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6131E-C2F4-CCCD-1669-C2E0ED316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18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3853-3FF4-39C4-611B-C27191BE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98153-9F1C-74CB-1D61-7FB36CEFA9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98B9-320C-B363-3624-FB8DB6781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B2435-F244-9322-4AA6-1A65C7B2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9A0255-093E-FF0E-A637-AE23FB32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3E15A-C787-4F9B-4DF6-34A2E3B2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867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BCA-E148-C4C4-F850-BD0DBFB2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663F8-FBE3-6D83-9672-E2A1C2A58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58AF-5A83-01C2-358B-61108368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7EB5A-B6B8-5A85-1B97-276A9148A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FE3EC-AAAA-22DE-77D1-199B4E4C2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0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E278DC-3AAA-4067-8C94-F53711A11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5339A-FE4A-10A4-A1C5-F2D8AE78B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4A872-535C-7907-6262-C86277C89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FB790-5BF5-89F1-A05D-682BC338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E703B-120D-8DA7-78FA-C77181EE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8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8D9B42-8CA7-2D2B-C007-B2CE54DB3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ABCE7-F6A0-0BDD-4575-94F1A1316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0B8A-85E9-1A2A-A401-017C475DB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532BD-9140-4B29-84A7-F093ECA1174A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7F160-05E5-F377-4C21-86B0741F3F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74A44-AC38-237E-470C-C5453E37F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0FB36-65EC-43F1-8494-C6DBDA37F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0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81024" y="804862"/>
            <a:ext cx="10300336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altLang="zh-CN" sz="3300" b="1" dirty="0">
                <a:solidFill>
                  <a:srgbClr val="10B981"/>
                </a:solidFill>
                <a:latin typeface="Titillium Web" panose="020F0502020204030204" pitchFamily="2" charset="0"/>
                <a:ea typeface="Poppins"/>
                <a:cs typeface="Poppins"/>
                <a:sym typeface="Poppins"/>
              </a:rPr>
              <a:t>Secure router:</a:t>
            </a:r>
            <a:r>
              <a:rPr lang="zh-CN" altLang="en-US" sz="3300" b="1" dirty="0">
                <a:solidFill>
                  <a:srgbClr val="10B981"/>
                </a:solidFill>
                <a:latin typeface="Titillium Web" panose="020F0502020204030204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sz="3300" b="1" dirty="0">
                <a:solidFill>
                  <a:srgbClr val="10B981"/>
                </a:solidFill>
                <a:latin typeface="Titillium Web" panose="020F0502020204030204" pitchFamily="2" charset="0"/>
                <a:ea typeface="Poppins"/>
                <a:cs typeface="Poppins"/>
                <a:sym typeface="Poppins"/>
              </a:rPr>
              <a:t>GitHub repo &amp; Website</a:t>
            </a:r>
            <a:endParaRPr lang="en-US" sz="3600"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581024" y="2339601"/>
            <a:ext cx="519064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B82F6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GitHub repo</a:t>
            </a:r>
          </a:p>
        </p:txBody>
      </p:sp>
      <p:sp>
        <p:nvSpPr>
          <p:cNvPr id="120" name="Google Shape;120;p16"/>
          <p:cNvSpPr txBox="1"/>
          <p:nvPr/>
        </p:nvSpPr>
        <p:spPr>
          <a:xfrm>
            <a:off x="581025" y="2967037"/>
            <a:ext cx="4943475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Clean code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Documentation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Ready for researcher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Support </a:t>
            </a:r>
            <a:r>
              <a:rPr lang="en-US" altLang="zh-CN" dirty="0" err="1">
                <a:solidFill>
                  <a:schemeClr val="bg1"/>
                </a:solidFill>
              </a:rPr>
              <a:t>Github</a:t>
            </a:r>
            <a:r>
              <a:rPr lang="en-US" altLang="zh-CN" dirty="0">
                <a:solidFill>
                  <a:schemeClr val="bg1"/>
                </a:solidFill>
              </a:rPr>
              <a:t> tools, like PR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Should we support more models? See next slides</a:t>
            </a:r>
          </a:p>
        </p:txBody>
      </p:sp>
      <p:sp>
        <p:nvSpPr>
          <p:cNvPr id="121" name="Google Shape;121;p16"/>
          <p:cNvSpPr txBox="1"/>
          <p:nvPr/>
        </p:nvSpPr>
        <p:spPr>
          <a:xfrm>
            <a:off x="8405240" y="3435906"/>
            <a:ext cx="4943475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Work Sans" pitchFamily="2" charset="0"/>
                <a:ea typeface="Inter"/>
                <a:sym typeface="Inter"/>
              </a:rPr>
              <a:t>Show: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Info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Paper link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dirty="0">
                <a:solidFill>
                  <a:schemeClr val="bg1"/>
                </a:solidFill>
              </a:rPr>
              <a:t>GitHub link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Key Contributions / Features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Interactive Demo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Documentation Link (</a:t>
            </a:r>
            <a:r>
              <a:rPr lang="zh-CN" altLang="en-US" dirty="0">
                <a:solidFill>
                  <a:schemeClr val="bg1"/>
                </a:solidFill>
              </a:rPr>
              <a:t>文档入口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Citation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" name="Google Shape;119;p16">
            <a:extLst>
              <a:ext uri="{FF2B5EF4-FFF2-40B4-BE49-F238E27FC236}">
                <a16:creationId xmlns:a16="http://schemas.microsoft.com/office/drawing/2014/main" id="{4E966A1D-9625-CE50-419A-350D3315571E}"/>
              </a:ext>
            </a:extLst>
          </p:cNvPr>
          <p:cNvSpPr txBox="1"/>
          <p:nvPr/>
        </p:nvSpPr>
        <p:spPr>
          <a:xfrm>
            <a:off x="8405241" y="2324480"/>
            <a:ext cx="519064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3B82F6"/>
                </a:solidFill>
                <a:latin typeface="Titillium Web" panose="00000500000000000000" pitchFamily="2" charset="0"/>
                <a:cs typeface="Poppins"/>
                <a:sym typeface="Poppins"/>
              </a:rPr>
              <a:t>Website</a:t>
            </a:r>
            <a:r>
              <a:rPr lang="en-US" sz="2100" b="1">
                <a:solidFill>
                  <a:srgbClr val="3B82F6"/>
                </a:solidFill>
                <a:latin typeface="Titillium Web" panose="00000500000000000000" pitchFamily="2" charset="0"/>
                <a:cs typeface="Poppins"/>
                <a:sym typeface="Poppins"/>
              </a:rPr>
              <a:t> </a:t>
            </a:r>
            <a:r>
              <a:rPr lang="en-US" sz="2100" b="1">
                <a:solidFill>
                  <a:schemeClr val="bg1"/>
                </a:solidFill>
                <a:latin typeface="Titillium Web" panose="00000500000000000000" pitchFamily="2" charset="0"/>
                <a:cs typeface="Poppins"/>
                <a:sym typeface="Poppins"/>
              </a:rPr>
              <a:t>2days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Google Shape;121;p16">
            <a:extLst>
              <a:ext uri="{FF2B5EF4-FFF2-40B4-BE49-F238E27FC236}">
                <a16:creationId xmlns:a16="http://schemas.microsoft.com/office/drawing/2014/main" id="{FECF38D1-8B48-A868-598F-129DD67C0932}"/>
              </a:ext>
            </a:extLst>
          </p:cNvPr>
          <p:cNvSpPr txBox="1"/>
          <p:nvPr/>
        </p:nvSpPr>
        <p:spPr>
          <a:xfrm>
            <a:off x="8405241" y="2893885"/>
            <a:ext cx="49434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altLang="zh-CN" sz="1500" dirty="0">
                <a:solidFill>
                  <a:schemeClr val="bg1"/>
                </a:solidFill>
                <a:latin typeface="Work Sans" pitchFamily="2" charset="0"/>
                <a:ea typeface="Inter"/>
                <a:sym typeface="Inter"/>
              </a:rPr>
              <a:t>Template: https://nerfies.github.io/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Google Shape;119;p16">
            <a:extLst>
              <a:ext uri="{FF2B5EF4-FFF2-40B4-BE49-F238E27FC236}">
                <a16:creationId xmlns:a16="http://schemas.microsoft.com/office/drawing/2014/main" id="{AAAA1552-8C3F-EF53-1136-81447252612E}"/>
              </a:ext>
            </a:extLst>
          </p:cNvPr>
          <p:cNvSpPr txBox="1"/>
          <p:nvPr/>
        </p:nvSpPr>
        <p:spPr>
          <a:xfrm>
            <a:off x="4208144" y="2346841"/>
            <a:ext cx="519064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cap="none" dirty="0">
                <a:solidFill>
                  <a:srgbClr val="3B82F6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Local Demo</a:t>
            </a:r>
            <a:endParaRPr lang="en-US" sz="2100" b="1" i="0" u="none" strike="noStrike" cap="none" dirty="0">
              <a:solidFill>
                <a:srgbClr val="3B82F6"/>
              </a:solidFill>
              <a:latin typeface="Titillium Web" panose="00000500000000000000" pitchFamily="2" charset="0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120;p16">
            <a:extLst>
              <a:ext uri="{FF2B5EF4-FFF2-40B4-BE49-F238E27FC236}">
                <a16:creationId xmlns:a16="http://schemas.microsoft.com/office/drawing/2014/main" id="{DC13C394-2F70-21B3-469C-CE7AFF4C8918}"/>
              </a:ext>
            </a:extLst>
          </p:cNvPr>
          <p:cNvSpPr txBox="1"/>
          <p:nvPr/>
        </p:nvSpPr>
        <p:spPr>
          <a:xfrm>
            <a:off x="3985453" y="2900952"/>
            <a:ext cx="4097844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bg1"/>
                </a:solidFill>
              </a:rPr>
              <a:t>Now support Bert inference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Classification tasks -- sentiment 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One sentence running time is 13ms </a:t>
            </a:r>
            <a:r>
              <a:rPr lang="en-US" altLang="zh-CN" dirty="0">
                <a:solidFill>
                  <a:schemeClr val="bg1"/>
                </a:solidFill>
              </a:rPr>
              <a:t>with V100</a:t>
            </a:r>
            <a:r>
              <a:rPr lang="zh-CN" altLang="en-US" dirty="0">
                <a:solidFill>
                  <a:schemeClr val="bg1"/>
                </a:solidFill>
              </a:rPr>
              <a:t>，</a:t>
            </a:r>
            <a:r>
              <a:rPr lang="en-US" dirty="0">
                <a:solidFill>
                  <a:schemeClr val="bg1"/>
                </a:solidFill>
              </a:rPr>
              <a:t>70</a:t>
            </a:r>
            <a:r>
              <a:rPr lang="en-US" altLang="zh-CN" dirty="0">
                <a:solidFill>
                  <a:schemeClr val="bg1"/>
                </a:solidFill>
              </a:rPr>
              <a:t>ms with CPU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0479B1-5DD5-195D-A651-D4C6D1FE0626}"/>
              </a:ext>
            </a:extLst>
          </p:cNvPr>
          <p:cNvGraphicFramePr>
            <a:graphicFrameLocks noGrp="1"/>
          </p:cNvGraphicFramePr>
          <p:nvPr/>
        </p:nvGraphicFramePr>
        <p:xfrm>
          <a:off x="87820" y="4829413"/>
          <a:ext cx="8229600" cy="28041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401978144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91207675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12098997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367779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Input Sentence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Sentiment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Confidence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Selected Expert</a:t>
                      </a:r>
                      <a:endParaRPr lang="en-US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2759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"This movie is absolutely amazing!"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99.6%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BERT-large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125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"I hate this terrible film."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Negative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99.4%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BERT-large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7230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"The weather is nice today."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Positive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99.7%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BERT-large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9465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>
          <a:extLst>
            <a:ext uri="{FF2B5EF4-FFF2-40B4-BE49-F238E27FC236}">
              <a16:creationId xmlns:a16="http://schemas.microsoft.com/office/drawing/2014/main" id="{C13FFC80-D886-2BB4-3559-50F2D0B0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8" descr="image.png">
            <a:extLst>
              <a:ext uri="{FF2B5EF4-FFF2-40B4-BE49-F238E27FC236}">
                <a16:creationId xmlns:a16="http://schemas.microsoft.com/office/drawing/2014/main" id="{0FE8E4A0-2AC7-992E-ECE3-04D5A104D9F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>
            <a:extLst>
              <a:ext uri="{FF2B5EF4-FFF2-40B4-BE49-F238E27FC236}">
                <a16:creationId xmlns:a16="http://schemas.microsoft.com/office/drawing/2014/main" id="{2FBC4149-5967-33F0-3D0C-60C638337DFB}"/>
              </a:ext>
            </a:extLst>
          </p:cNvPr>
          <p:cNvSpPr txBox="1"/>
          <p:nvPr/>
        </p:nvSpPr>
        <p:spPr>
          <a:xfrm>
            <a:off x="771525" y="581025"/>
            <a:ext cx="11381422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300" b="1" dirty="0">
                <a:solidFill>
                  <a:srgbClr val="10B981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Next step</a:t>
            </a:r>
            <a:r>
              <a:rPr lang="en-US" sz="3300" b="1" i="0" u="none" strike="noStrike" cap="none" dirty="0">
                <a:solidFill>
                  <a:srgbClr val="10B981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: </a:t>
            </a:r>
            <a:r>
              <a:rPr lang="en-US" altLang="zh-CN" sz="3300" b="1" dirty="0">
                <a:solidFill>
                  <a:srgbClr val="10B981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R</a:t>
            </a:r>
            <a:r>
              <a:rPr lang="en-US" altLang="zh-CN" sz="3300" b="1" i="0" u="none" strike="noStrike" cap="none" dirty="0">
                <a:solidFill>
                  <a:srgbClr val="10B981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eal distribution &amp; others</a:t>
            </a:r>
            <a:endParaRPr dirty="0"/>
          </a:p>
        </p:txBody>
      </p:sp>
      <p:sp>
        <p:nvSpPr>
          <p:cNvPr id="159" name="Google Shape;159;p18">
            <a:extLst>
              <a:ext uri="{FF2B5EF4-FFF2-40B4-BE49-F238E27FC236}">
                <a16:creationId xmlns:a16="http://schemas.microsoft.com/office/drawing/2014/main" id="{28092850-7BCA-9B50-BC33-2E264D020F76}"/>
              </a:ext>
            </a:extLst>
          </p:cNvPr>
          <p:cNvSpPr/>
          <p:nvPr/>
        </p:nvSpPr>
        <p:spPr>
          <a:xfrm>
            <a:off x="581025" y="581025"/>
            <a:ext cx="57150" cy="6191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19;p16">
            <a:extLst>
              <a:ext uri="{FF2B5EF4-FFF2-40B4-BE49-F238E27FC236}">
                <a16:creationId xmlns:a16="http://schemas.microsoft.com/office/drawing/2014/main" id="{56471BB8-B4E4-3334-D78A-E013EE4F12AF}"/>
              </a:ext>
            </a:extLst>
          </p:cNvPr>
          <p:cNvSpPr txBox="1"/>
          <p:nvPr/>
        </p:nvSpPr>
        <p:spPr>
          <a:xfrm>
            <a:off x="581025" y="1460585"/>
            <a:ext cx="519064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100" b="1" i="0" u="none" strike="noStrike" cap="none" dirty="0">
                <a:solidFill>
                  <a:srgbClr val="3B82F6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Pip &amp; API</a:t>
            </a:r>
            <a:r>
              <a:rPr lang="en-US" altLang="zh-CN" sz="2100" b="1" i="0" u="none" strike="noStrike" cap="none">
                <a:solidFill>
                  <a:srgbClr val="3B82F6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 </a:t>
            </a:r>
            <a:r>
              <a:rPr lang="en-US" altLang="zh-CN" sz="2100" b="1" i="0" u="none" strike="noStrike" cap="none">
                <a:solidFill>
                  <a:schemeClr val="bg1"/>
                </a:solidFill>
                <a:latin typeface="Titillium Web" panose="00000500000000000000" pitchFamily="2" charset="0"/>
                <a:ea typeface="Poppins"/>
                <a:cs typeface="Poppins"/>
                <a:sym typeface="Poppins"/>
              </a:rPr>
              <a:t>1-2 weeks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10586" y="1920220"/>
            <a:ext cx="4158997" cy="4825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Custom Dataset Support: Support for user-defined/custom datasets.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Multi-Model Compatibility: Seamless support for </a:t>
            </a:r>
            <a:r>
              <a:rPr lang="en-US" dirty="0" err="1">
                <a:solidFill>
                  <a:schemeClr val="bg1"/>
                </a:solidFill>
              </a:rPr>
              <a:t>RoBERTa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DeBERTa</a:t>
            </a:r>
            <a:r>
              <a:rPr lang="en-US" dirty="0">
                <a:solidFill>
                  <a:schemeClr val="bg1"/>
                </a:solidFill>
              </a:rPr>
              <a:t>, and other Transformer-based architectures.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Minimalist Python API: A clean, intuitive, and developer-friendly Python interface.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Out-of-the-Box Pretrained Routers: Instant deployment with high-performance pretrained router models.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Comprehensive Documentation: Full API docs combined with hands-on tutorials.</a:t>
            </a:r>
          </a:p>
          <a:p>
            <a:pPr marL="285750" lvl="0" indent="-285750">
              <a:lnSpc>
                <a:spcPct val="16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Decoding Capability?: (Exploring) Support for decoding mechanisms/sequences.</a:t>
            </a:r>
            <a:endParaRPr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45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44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Times New Roman</vt:lpstr>
      <vt:lpstr>Titillium Web</vt:lpstr>
      <vt:lpstr>Work Sans</vt:lpstr>
      <vt:lpstr>Office Theme</vt:lpstr>
      <vt:lpstr>PowerPoint Presentation</vt:lpstr>
      <vt:lpstr>PowerPoint Presentation</vt:lpstr>
    </vt:vector>
  </TitlesOfParts>
  <Company>University of Central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Yukuan Zhang</dc:creator>
  <cp:lastModifiedBy>Yukuan Zhang</cp:lastModifiedBy>
  <cp:revision>1</cp:revision>
  <dcterms:created xsi:type="dcterms:W3CDTF">2026-03-13T20:43:58Z</dcterms:created>
  <dcterms:modified xsi:type="dcterms:W3CDTF">2026-03-13T20:44:07Z</dcterms:modified>
</cp:coreProperties>
</file>